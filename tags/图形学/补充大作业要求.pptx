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sldIdLst>
    <p:sldId id="334" r:id="rId2"/>
    <p:sldId id="359" r:id="rId3"/>
    <p:sldId id="360" r:id="rId4"/>
    <p:sldId id="361" r:id="rId5"/>
    <p:sldId id="366" r:id="rId6"/>
    <p:sldId id="368" r:id="rId7"/>
    <p:sldId id="362" r:id="rId8"/>
    <p:sldId id="363" r:id="rId9"/>
    <p:sldId id="364" r:id="rId10"/>
    <p:sldId id="365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88" autoAdjust="0"/>
    <p:restoredTop sz="94660"/>
  </p:normalViewPr>
  <p:slideViewPr>
    <p:cSldViewPr>
      <p:cViewPr varScale="1">
        <p:scale>
          <a:sx n="64" d="100"/>
          <a:sy n="64" d="100"/>
        </p:scale>
        <p:origin x="28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5CB569-2B02-EBC8-8641-9807E86CB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EEC062-8663-4318-1B41-B80EE7A223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724D02-DA85-29FF-E65B-6EDE889DA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C8010-E9F7-19AB-F451-A5406142B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DEE9D6-01F2-0A0D-D92C-1A2A51D08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82DA81-9AE3-4A46-90B3-7F6D5FD991C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2985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484C93-27DD-8658-4A97-F8A0D9982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D75B97-C2E1-33CF-D956-004F30B23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DBDA8B-6C8D-780A-7D24-E8332182A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13F8A5-DD9E-9111-E9CB-42145BBDC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BE2211-8F5B-55B4-BB83-807439A4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ABB005-4019-469E-A19B-F61E04345D0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7096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0A6DA9-2B95-BED6-193B-86706259B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9AB22A-8D09-3BEA-C448-64D86E0C9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8ACF-8236-FE23-FCB9-8626478AF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6B1CC5-91F1-DCA3-8F95-E548F09B4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AF3374-F206-E587-0242-CDAE1F77B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3411C5-A781-4C2F-B800-3FD1D6646EF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8823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2646D8-4B7A-DC36-2FB7-CA388B659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01CBB-6692-2D8B-8969-5F55B2987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750384-8DC2-E471-48FC-0164CDDC8A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52A054-1EC9-E434-3035-60979469D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CF665B-B6C8-CAD6-29A5-3384E5777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FB9439-5D9B-B28C-2019-9F4EC1C27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8EEE5E-8985-4845-A487-4306539811D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2611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1DABF8-86FB-8159-A02F-26207DEA4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465729-4715-B666-358F-42DB4E209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175142-07ED-D576-9D82-A8B8935C0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34988E4-652E-4CBC-7963-E65CE06A42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4D8572F-91D6-FCAE-6BCC-8A3AFECF91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AE06C5C-DD9A-0B17-E116-2C3CAFADD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A48CB41-D64B-213C-FEC6-D5DCD36D8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A56FBC4-8DFA-5CF2-9656-6EC57F076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217BF8-4E35-48C7-B29C-93D08B508B3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7841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042E4-80D7-41A6-928D-54D86D7C6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73929ED-CBCE-FADC-5DA8-1C07576C9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75EC8D-55C5-0A59-96B2-B3AC8377A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EFE775-B653-8060-3F1A-8A3220D76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D6E888-C29E-4345-A2EB-11F362B88FB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8358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72D0BF1-4A83-4965-1D7F-DF1D4AF2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24831FA-CDB1-5EC3-A144-F06323307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C35A8C-A097-1FEC-2512-84D0DE2A3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54AFA9-2000-4DCC-B24F-CC2641D40FF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4150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7E0B0D-7113-A9BB-3322-899040908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AF0578-CF2E-DC85-EB56-C06F1F68F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A46801-04D6-1C55-7C37-F31DFA7C83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50789A-24FD-79F3-1FE1-BCFA4CDF1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702C64-D924-CE00-CD4B-DF5DF5177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697E3B-182B-3E01-DF02-DAEF63AE8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1FE43D-3F61-4E19-A1BE-E41230EAAF1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1489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302E6C-F20C-ABA0-A382-66277239D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646021A-17E9-91D6-9AF3-91870001C4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AF1634-D4D7-1FC5-A769-30BB773AF7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0E838B-863C-B662-8E8E-6E65837F4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FF8667-CE28-2E1C-03A1-545B6AC7E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71F97B-6865-EBFE-7F07-F75B7157F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727DC7-0E07-40C3-B0DF-75061EBC515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9038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65CD6F-D9C8-DD27-D39E-1AB0DE879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FDF87E-23F6-45B8-E986-01F11BDFBA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5905D3-45E4-3DB5-41B7-A3D420F17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EC86C2-2B07-C825-BFCE-81B3BA83E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241820-B80B-2060-DF73-4F3ACCEEA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B35602-0051-4413-853A-9B2E73136F9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8557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1124C2C-5705-FBBB-B917-E2432FBFDD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F4CB96-991B-BA1C-0634-06F2BAD83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9B66F0-3886-B8F6-41C5-E1831F08C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97D60C-EBE5-6F36-7417-C5A002C52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0AC565-DF32-E400-D038-EB5382DE2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24D39-A094-486F-9D87-4D3DA541104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4165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6148355-803A-080B-5D3C-FBE0F646C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00AEE3-43EB-D69E-8C59-79C028B3C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77FA0F-3D55-22D8-8612-6E56749FF5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E61B1F-EFFB-00D6-7F65-EDB41D9B96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D75143-4001-E54A-6A86-EC2EBD3DA8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B524D39-A094-486F-9D87-4D3DA541104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015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Rot="1" noChangeArrowheads="1"/>
          </p:cNvSpPr>
          <p:nvPr/>
        </p:nvSpPr>
        <p:spPr bwMode="auto">
          <a:xfrm>
            <a:off x="304800" y="381000"/>
            <a:ext cx="6324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b="1" kern="0" dirty="0"/>
              <a:t>大作业（课程设计）</a:t>
            </a:r>
          </a:p>
        </p:txBody>
      </p:sp>
      <p:sp>
        <p:nvSpPr>
          <p:cNvPr id="5" name="矩形 4"/>
          <p:cNvSpPr/>
          <p:nvPr/>
        </p:nvSpPr>
        <p:spPr>
          <a:xfrm>
            <a:off x="323538" y="1874728"/>
            <a:ext cx="8058462" cy="3108543"/>
          </a:xfrm>
          <a:prstGeom prst="rect">
            <a:avLst/>
          </a:prstGeom>
          <a:ln>
            <a:solidFill>
              <a:schemeClr val="accent1">
                <a:lumMod val="10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zh-CN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SOPC </a:t>
            </a:r>
            <a:r>
              <a:rPr lang="zh-CN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技术设计硬件和软件系统。硬件系统由</a:t>
            </a:r>
            <a:r>
              <a:rPr lang="en-US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kern="100" dirty="0" err="1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Nios</a:t>
            </a:r>
            <a:r>
              <a:rPr lang="en-US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II </a:t>
            </a:r>
            <a:r>
              <a:rPr lang="zh-CN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处理器、</a:t>
            </a:r>
            <a:r>
              <a:rPr lang="en-US" altLang="zh-CN" sz="2800" kern="100" dirty="0" err="1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sysid</a:t>
            </a:r>
            <a:r>
              <a:rPr lang="zh-CN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、定时器、</a:t>
            </a:r>
            <a:r>
              <a:rPr lang="en-US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UART</a:t>
            </a:r>
            <a:r>
              <a:rPr lang="zh-CN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PIO</a:t>
            </a:r>
            <a:r>
              <a:rPr lang="zh-CN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PLL</a:t>
            </a:r>
            <a:r>
              <a:rPr lang="zh-CN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SDRAM </a:t>
            </a:r>
            <a:r>
              <a:rPr lang="zh-CN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等组成，支持</a:t>
            </a:r>
            <a:r>
              <a:rPr lang="en-US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UART </a:t>
            </a:r>
            <a:r>
              <a:rPr lang="zh-CN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PIO </a:t>
            </a:r>
            <a:r>
              <a:rPr lang="zh-CN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进行外部通信。系统启动时，通过串口发送信息</a:t>
            </a:r>
            <a:r>
              <a:rPr lang="en-US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请输入</a:t>
            </a:r>
            <a:r>
              <a:rPr lang="en-US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AT</a:t>
            </a:r>
            <a:r>
              <a:rPr lang="zh-CN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指令，以换行符</a:t>
            </a:r>
            <a:r>
              <a:rPr lang="en-US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\n</a:t>
            </a:r>
            <a:r>
              <a:rPr lang="zh-CN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结束</a:t>
            </a:r>
            <a:r>
              <a:rPr lang="en-US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!”</a:t>
            </a:r>
            <a:r>
              <a:rPr lang="zh-CN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。通过串口向系统发送</a:t>
            </a:r>
            <a:r>
              <a:rPr lang="en-US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AT</a:t>
            </a:r>
            <a:r>
              <a:rPr lang="zh-CN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指令，系统会执行相应指令并返回结果。</a:t>
            </a:r>
            <a:r>
              <a:rPr lang="en-US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AT </a:t>
            </a:r>
            <a:r>
              <a:rPr lang="zh-CN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指令以</a:t>
            </a:r>
            <a:r>
              <a:rPr lang="en-US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“AT+”</a:t>
            </a:r>
            <a:r>
              <a:rPr lang="zh-CN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开头，以换行符</a:t>
            </a:r>
            <a:r>
              <a:rPr lang="en-US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“\n”</a:t>
            </a:r>
            <a:r>
              <a:rPr lang="zh-CN" altLang="zh-CN" sz="2800" kern="100" dirty="0">
                <a:solidFill>
                  <a:schemeClr val="accent5">
                    <a:lumMod val="10000"/>
                  </a:schemeClr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结束。</a:t>
            </a:r>
          </a:p>
        </p:txBody>
      </p:sp>
    </p:spTree>
    <p:extLst>
      <p:ext uri="{BB962C8B-B14F-4D97-AF65-F5344CB8AC3E}">
        <p14:creationId xmlns:p14="http://schemas.microsoft.com/office/powerpoint/2010/main" val="1140027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Rot="1" noChangeArrowheads="1"/>
          </p:cNvSpPr>
          <p:nvPr/>
        </p:nvSpPr>
        <p:spPr bwMode="auto">
          <a:xfrm>
            <a:off x="304800" y="381000"/>
            <a:ext cx="6324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b="1" kern="0" dirty="0"/>
              <a:t>大作业（课程设计）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653F73A-DA33-3CE5-8866-F49A744A1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122201"/>
              </p:ext>
            </p:extLst>
          </p:nvPr>
        </p:nvGraphicFramePr>
        <p:xfrm>
          <a:off x="143607" y="1524000"/>
          <a:ext cx="8856786" cy="5181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62368">
                  <a:extLst>
                    <a:ext uri="{9D8B030D-6E8A-4147-A177-3AD203B41FA5}">
                      <a16:colId xmlns:a16="http://schemas.microsoft.com/office/drawing/2014/main" val="3018109760"/>
                    </a:ext>
                  </a:extLst>
                </a:gridCol>
                <a:gridCol w="2633319">
                  <a:extLst>
                    <a:ext uri="{9D8B030D-6E8A-4147-A177-3AD203B41FA5}">
                      <a16:colId xmlns:a16="http://schemas.microsoft.com/office/drawing/2014/main" val="3828000156"/>
                    </a:ext>
                  </a:extLst>
                </a:gridCol>
                <a:gridCol w="3461099">
                  <a:extLst>
                    <a:ext uri="{9D8B030D-6E8A-4147-A177-3AD203B41FA5}">
                      <a16:colId xmlns:a16="http://schemas.microsoft.com/office/drawing/2014/main" val="3441574595"/>
                    </a:ext>
                  </a:extLst>
                </a:gridCol>
              </a:tblGrid>
              <a:tr h="735531"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</a:rPr>
                        <a:t>AT</a:t>
                      </a:r>
                      <a:r>
                        <a:rPr lang="zh-CN" sz="2400" kern="100">
                          <a:effectLst/>
                        </a:rPr>
                        <a:t>指令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>
                          <a:effectLst/>
                        </a:rPr>
                        <a:t>功能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>
                          <a:effectLst/>
                        </a:rPr>
                        <a:t>返回信息举例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1262743"/>
                  </a:ext>
                </a:extLst>
              </a:tr>
              <a:tr h="367765"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</a:rPr>
                        <a:t>AT+\n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>
                          <a:effectLst/>
                        </a:rPr>
                        <a:t>测试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>
                          <a:effectLst/>
                        </a:rPr>
                        <a:t>测试</a:t>
                      </a:r>
                      <a:r>
                        <a:rPr lang="en-US" sz="2400" kern="100">
                          <a:effectLst/>
                        </a:rPr>
                        <a:t>OK</a:t>
                      </a:r>
                      <a:r>
                        <a:rPr lang="zh-CN" sz="2400" kern="100">
                          <a:effectLst/>
                        </a:rPr>
                        <a:t>！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9353723"/>
                  </a:ext>
                </a:extLst>
              </a:tr>
              <a:tr h="725504"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</a:rPr>
                        <a:t>AT+NAME\n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 dirty="0">
                          <a:effectLst/>
                        </a:rPr>
                        <a:t>返回你的学号和姓名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 dirty="0">
                          <a:effectLst/>
                        </a:rPr>
                        <a:t>学号：</a:t>
                      </a:r>
                      <a:r>
                        <a:rPr lang="en-US" sz="2400" kern="100" dirty="0">
                          <a:effectLst/>
                        </a:rPr>
                        <a:t>22111403888</a:t>
                      </a:r>
                    </a:p>
                    <a:p>
                      <a:pPr algn="just"/>
                      <a:r>
                        <a:rPr lang="zh-CN" sz="2400" kern="100" dirty="0">
                          <a:effectLst/>
                        </a:rPr>
                        <a:t>姓名：张三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3439048"/>
                  </a:ext>
                </a:extLst>
              </a:tr>
              <a:tr h="451184"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</a:rPr>
                        <a:t>AT+LEDSTAT\n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>
                          <a:effectLst/>
                        </a:rPr>
                        <a:t>获取</a:t>
                      </a:r>
                      <a:r>
                        <a:rPr lang="en-US" sz="2400" kern="100">
                          <a:effectLst/>
                        </a:rPr>
                        <a:t>LED</a:t>
                      </a:r>
                      <a:r>
                        <a:rPr lang="zh-CN" sz="2400" kern="100">
                          <a:effectLst/>
                        </a:rPr>
                        <a:t>灯状态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</a:rPr>
                        <a:t>LED</a:t>
                      </a:r>
                      <a:r>
                        <a:rPr lang="zh-CN" sz="2400" kern="100">
                          <a:effectLst/>
                        </a:rPr>
                        <a:t>状态：亮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151104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</a:rPr>
                        <a:t>AT+LEDON\n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>
                          <a:effectLst/>
                        </a:rPr>
                        <a:t>点亮</a:t>
                      </a:r>
                      <a:r>
                        <a:rPr lang="en-US" sz="2400" kern="100">
                          <a:effectLst/>
                        </a:rPr>
                        <a:t>LED</a:t>
                      </a:r>
                      <a:r>
                        <a:rPr lang="zh-CN" sz="2400" kern="100">
                          <a:effectLst/>
                        </a:rPr>
                        <a:t>灯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</a:rPr>
                        <a:t>LED</a:t>
                      </a:r>
                      <a:r>
                        <a:rPr lang="zh-CN" sz="2400" kern="100">
                          <a:effectLst/>
                        </a:rPr>
                        <a:t>点亮！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144976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</a:rPr>
                        <a:t>AT+LEDOFF\n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>
                          <a:effectLst/>
                        </a:rPr>
                        <a:t>熄灭</a:t>
                      </a:r>
                      <a:r>
                        <a:rPr lang="en-US" sz="2400" kern="100">
                          <a:effectLst/>
                        </a:rPr>
                        <a:t>LED</a:t>
                      </a:r>
                      <a:r>
                        <a:rPr lang="zh-CN" sz="2400" kern="100">
                          <a:effectLst/>
                        </a:rPr>
                        <a:t>灯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</a:rPr>
                        <a:t>LED</a:t>
                      </a:r>
                      <a:r>
                        <a:rPr lang="zh-CN" sz="2400" kern="100">
                          <a:effectLst/>
                        </a:rPr>
                        <a:t>熄灭！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9099432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</a:rPr>
                        <a:t>AT+ASCII\n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>
                          <a:effectLst/>
                        </a:rPr>
                        <a:t>返回</a:t>
                      </a:r>
                      <a:r>
                        <a:rPr lang="en-US" sz="2400" kern="100">
                          <a:effectLst/>
                        </a:rPr>
                        <a:t>ASCII</a:t>
                      </a:r>
                      <a:r>
                        <a:rPr lang="zh-CN" sz="2400" kern="100">
                          <a:effectLst/>
                        </a:rPr>
                        <a:t>值</a:t>
                      </a:r>
                      <a:r>
                        <a:rPr lang="en-US" sz="2400" kern="100">
                          <a:effectLst/>
                        </a:rPr>
                        <a:t>0-127</a:t>
                      </a:r>
                      <a:r>
                        <a:rPr lang="zh-CN" sz="2400" kern="100">
                          <a:effectLst/>
                        </a:rPr>
                        <a:t>对应的字符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</a:rPr>
                        <a:t>#$%&amp;'()*+,-./0123456789:;</a:t>
                      </a:r>
                      <a:endParaRPr lang="zh-CN" sz="2400" kern="100">
                        <a:effectLst/>
                      </a:endParaRPr>
                    </a:p>
                    <a:p>
                      <a:pPr algn="just"/>
                      <a:r>
                        <a:rPr lang="en-US" sz="2400" kern="100">
                          <a:effectLst/>
                        </a:rPr>
                        <a:t>&lt;=&gt;?@ABCDEFGHIJKLMNOP 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156744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</a:rPr>
                        <a:t>AT+RST\n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>
                          <a:effectLst/>
                        </a:rPr>
                        <a:t>系统重启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 dirty="0">
                          <a:effectLst/>
                        </a:rPr>
                        <a:t>系统正在重启中。。。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6780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4615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Rot="1" noChangeArrowheads="1"/>
          </p:cNvSpPr>
          <p:nvPr/>
        </p:nvSpPr>
        <p:spPr bwMode="auto">
          <a:xfrm>
            <a:off x="304800" y="381000"/>
            <a:ext cx="6324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b="1" kern="0" dirty="0"/>
              <a:t>大作业（课程设计）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653F73A-DA33-3CE5-8866-F49A744A1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42414"/>
              </p:ext>
            </p:extLst>
          </p:nvPr>
        </p:nvGraphicFramePr>
        <p:xfrm>
          <a:off x="143607" y="1524000"/>
          <a:ext cx="8856786" cy="50027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62368">
                  <a:extLst>
                    <a:ext uri="{9D8B030D-6E8A-4147-A177-3AD203B41FA5}">
                      <a16:colId xmlns:a16="http://schemas.microsoft.com/office/drawing/2014/main" val="3018109760"/>
                    </a:ext>
                  </a:extLst>
                </a:gridCol>
                <a:gridCol w="2885225">
                  <a:extLst>
                    <a:ext uri="{9D8B030D-6E8A-4147-A177-3AD203B41FA5}">
                      <a16:colId xmlns:a16="http://schemas.microsoft.com/office/drawing/2014/main" val="3828000156"/>
                    </a:ext>
                  </a:extLst>
                </a:gridCol>
                <a:gridCol w="3209193">
                  <a:extLst>
                    <a:ext uri="{9D8B030D-6E8A-4147-A177-3AD203B41FA5}">
                      <a16:colId xmlns:a16="http://schemas.microsoft.com/office/drawing/2014/main" val="3441574595"/>
                    </a:ext>
                  </a:extLst>
                </a:gridCol>
              </a:tblGrid>
              <a:tr h="735531"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</a:rPr>
                        <a:t>AT</a:t>
                      </a:r>
                      <a:r>
                        <a:rPr lang="zh-CN" sz="2400" kern="100">
                          <a:effectLst/>
                        </a:rPr>
                        <a:t>指令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>
                          <a:effectLst/>
                        </a:rPr>
                        <a:t>功能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>
                          <a:effectLst/>
                        </a:rPr>
                        <a:t>返回信息举例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1262743"/>
                  </a:ext>
                </a:extLst>
              </a:tr>
              <a:tr h="483669"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</a:rPr>
                        <a:t>AT+TIMESTAMP\n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>
                          <a:effectLst/>
                        </a:rPr>
                        <a:t>获取硬件时间戳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 dirty="0">
                          <a:effectLst/>
                        </a:rPr>
                        <a:t>硬件时间戳</a:t>
                      </a:r>
                      <a:r>
                        <a:rPr lang="en-US" sz="2400" kern="100" dirty="0">
                          <a:effectLst/>
                        </a:rPr>
                        <a:t>: 1716293977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124591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</a:rPr>
                        <a:t>AT+SYSID\n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>
                          <a:effectLst/>
                        </a:rPr>
                        <a:t>获取系统</a:t>
                      </a:r>
                      <a:r>
                        <a:rPr lang="en-US" sz="2400" kern="100">
                          <a:effectLst/>
                        </a:rPr>
                        <a:t>ID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>
                          <a:effectLst/>
                        </a:rPr>
                        <a:t>系统</a:t>
                      </a:r>
                      <a:r>
                        <a:rPr lang="en-US" sz="2400" kern="100">
                          <a:effectLst/>
                        </a:rPr>
                        <a:t>ID:12345678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5877013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</a:rPr>
                        <a:t>AT+ECHON\n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>
                          <a:effectLst/>
                        </a:rPr>
                        <a:t>命令回显打开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</a:rPr>
                        <a:t>ECHO</a:t>
                      </a:r>
                      <a:r>
                        <a:rPr lang="zh-CN" sz="2400" kern="100">
                          <a:effectLst/>
                        </a:rPr>
                        <a:t>已打开！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333631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</a:rPr>
                        <a:t>AT+ECHOFF\n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 dirty="0">
                          <a:effectLst/>
                        </a:rPr>
                        <a:t>命令回显关闭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</a:rPr>
                        <a:t>ECHO</a:t>
                      </a:r>
                      <a:r>
                        <a:rPr lang="zh-CN" sz="2400" kern="100">
                          <a:effectLst/>
                        </a:rPr>
                        <a:t>已关闭！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790899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 dirty="0">
                          <a:effectLst/>
                        </a:rPr>
                        <a:t>AT+SETIME 2025-5-18 14:30:00\n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 dirty="0">
                          <a:effectLst/>
                        </a:rPr>
                        <a:t>设置系统日期和时间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>
                          <a:effectLst/>
                        </a:rPr>
                        <a:t>系统时间设置</a:t>
                      </a:r>
                      <a:r>
                        <a:rPr lang="en-US" sz="2400" kern="100">
                          <a:effectLst/>
                        </a:rPr>
                        <a:t>OK</a:t>
                      </a:r>
                      <a:r>
                        <a:rPr lang="zh-CN" sz="2400" kern="100">
                          <a:effectLst/>
                        </a:rPr>
                        <a:t>！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80371972"/>
                  </a:ext>
                </a:extLst>
              </a:tr>
              <a:tr h="590349"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</a:rPr>
                        <a:t>AT+GETIME\n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>
                          <a:effectLst/>
                        </a:rPr>
                        <a:t>获取系统日期和时间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 dirty="0">
                          <a:effectLst/>
                        </a:rPr>
                        <a:t>2025-5-18 14:30:00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750208"/>
                  </a:ext>
                </a:extLst>
              </a:tr>
              <a:tr h="735531"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>
                          <a:effectLst/>
                        </a:rPr>
                        <a:t>。。。。。。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 dirty="0">
                          <a:effectLst/>
                        </a:rPr>
                        <a:t>。。。。。。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2400" kern="100" dirty="0">
                          <a:effectLst/>
                        </a:rPr>
                        <a:t>。。。。。。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80589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3711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14169" y="366623"/>
            <a:ext cx="8515662" cy="6124754"/>
          </a:xfrm>
          <a:prstGeom prst="rect">
            <a:avLst/>
          </a:prstGeom>
          <a:ln>
            <a:solidFill>
              <a:schemeClr val="accent1">
                <a:lumMod val="10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zh-CN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要求：</a:t>
            </a:r>
          </a:p>
          <a:p>
            <a:pPr algn="just"/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．实现上述功能是基本要求。根据需要可添加额外功能，例如数码管显示、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LCD </a:t>
            </a:r>
            <a:r>
              <a:rPr lang="zh-CN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显示、液晶屏显示、温度检测、红外遥控、实时时钟、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DAC</a:t>
            </a:r>
            <a:r>
              <a:rPr lang="zh-CN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I2C</a:t>
            </a:r>
            <a:r>
              <a:rPr lang="zh-CN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SPI </a:t>
            </a:r>
            <a:r>
              <a:rPr lang="zh-CN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等。也可根据需要添加看门狗、自定义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IP </a:t>
            </a:r>
            <a:r>
              <a:rPr lang="zh-CN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核、自定义指令、中断服务程序、实时操作系统等。</a:t>
            </a:r>
          </a:p>
          <a:p>
            <a:pPr algn="just"/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．设计报告要求包含设计思路、设计步骤、设计代码、测试过程和结果。</a:t>
            </a:r>
          </a:p>
          <a:p>
            <a:pPr algn="just"/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．上位机软件可使用串口调试助手，也可以用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Java </a:t>
            </a:r>
            <a:r>
              <a:rPr lang="zh-CN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C# </a:t>
            </a:r>
            <a:r>
              <a:rPr lang="zh-CN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等编写。</a:t>
            </a:r>
          </a:p>
          <a:p>
            <a:pPr algn="just"/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．提交打印稿（含封面），并在学习通上提交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Word </a:t>
            </a:r>
            <a:r>
              <a:rPr lang="zh-CN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设计报告和设计工程文件。</a:t>
            </a:r>
          </a:p>
          <a:p>
            <a:r>
              <a:rPr lang="en-US" altLang="zh-CN" sz="28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．本设计成绩等同期末考试成绩，请独立完成。报告和设计代码请自行保密，雷同按零分处理。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881900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AC85ECD-3CE3-740F-C687-D3B284E6DD9C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304800" y="381000"/>
            <a:ext cx="6324600" cy="114300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b="1" dirty="0"/>
              <a:t>SDRAM</a:t>
            </a:r>
            <a:r>
              <a:rPr lang="zh-CN" altLang="en-US" b="1" dirty="0"/>
              <a:t>核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13B5F7-4ED5-B4E8-8E49-271185D6CA2F}"/>
              </a:ext>
            </a:extLst>
          </p:cNvPr>
          <p:cNvSpPr/>
          <p:nvPr/>
        </p:nvSpPr>
        <p:spPr>
          <a:xfrm>
            <a:off x="533400" y="1676401"/>
            <a:ext cx="8229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   应用</a:t>
            </a:r>
            <a:r>
              <a:rPr lang="en-US" altLang="zh-CN"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SDRAM </a:t>
            </a:r>
            <a:r>
              <a:rPr lang="zh-CN" altLang="en-US"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需要实现刷新操作、行列管理、不同延迟和命令序列 等逻辑。</a:t>
            </a:r>
            <a:r>
              <a:rPr lang="en-US" altLang="zh-CN"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SDRAM </a:t>
            </a:r>
            <a:r>
              <a:rPr lang="zh-CN" altLang="en-US"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控制器 </a:t>
            </a:r>
            <a:r>
              <a:rPr lang="en-US" altLang="zh-CN"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IP</a:t>
            </a:r>
            <a:r>
              <a:rPr lang="zh-CN" altLang="en-US"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核能够处理所有的 </a:t>
            </a:r>
            <a:r>
              <a:rPr lang="en-US" altLang="zh-CN"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SDRAM </a:t>
            </a:r>
            <a:r>
              <a:rPr lang="zh-CN" altLang="en-US"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协议要求，包括上电初始化、地址复用、刷新、读写时序等。</a:t>
            </a:r>
            <a:br>
              <a:rPr lang="zh-CN" altLang="en-US" sz="3600" dirty="0"/>
            </a:br>
            <a:endParaRPr lang="en-US" altLang="zh-CN" sz="36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br>
              <a:rPr lang="zh-CN" altLang="en-US"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zh-CN" altLang="en-US" sz="36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94336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74E55C0-2396-AE84-E9BF-07FD9397B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09600"/>
            <a:ext cx="9047916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539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14169" y="366623"/>
            <a:ext cx="8515662" cy="5262979"/>
          </a:xfrm>
          <a:prstGeom prst="rect">
            <a:avLst/>
          </a:prstGeom>
          <a:ln>
            <a:solidFill>
              <a:schemeClr val="accent1">
                <a:lumMod val="1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804000"/>
                </a:solidFill>
                <a:highlight>
                  <a:srgbClr val="FFFFFF"/>
                </a:highlight>
              </a:rPr>
              <a:t>#include &lt;</a:t>
            </a:r>
            <a:r>
              <a:rPr lang="en-US" altLang="zh-CN" sz="2400" dirty="0" err="1">
                <a:solidFill>
                  <a:srgbClr val="804000"/>
                </a:solidFill>
                <a:highlight>
                  <a:srgbClr val="FFFFFF"/>
                </a:highlight>
              </a:rPr>
              <a:t>stdio.h</a:t>
            </a:r>
            <a:r>
              <a:rPr lang="en-US" altLang="zh-CN" sz="2400" dirty="0">
                <a:solidFill>
                  <a:srgbClr val="804000"/>
                </a:solidFill>
                <a:highlight>
                  <a:srgbClr val="FFFFFF"/>
                </a:highlight>
              </a:rPr>
              <a:t>&gt;</a:t>
            </a:r>
          </a:p>
          <a:p>
            <a:r>
              <a:rPr lang="en-US" altLang="zh-CN" sz="2400" dirty="0">
                <a:solidFill>
                  <a:srgbClr val="804000"/>
                </a:solidFill>
                <a:highlight>
                  <a:srgbClr val="FFFFFF"/>
                </a:highlight>
              </a:rPr>
              <a:t>#include &lt;</a:t>
            </a:r>
            <a:r>
              <a:rPr lang="en-US" altLang="zh-CN" sz="2400" dirty="0" err="1">
                <a:solidFill>
                  <a:srgbClr val="804000"/>
                </a:solidFill>
                <a:highlight>
                  <a:srgbClr val="FFFFFF"/>
                </a:highlight>
              </a:rPr>
              <a:t>string.h</a:t>
            </a:r>
            <a:r>
              <a:rPr lang="en-US" altLang="zh-CN" sz="2400" dirty="0">
                <a:solidFill>
                  <a:srgbClr val="804000"/>
                </a:solidFill>
                <a:highlight>
                  <a:srgbClr val="FFFFFF"/>
                </a:highlight>
              </a:rPr>
              <a:t>&gt;</a:t>
            </a:r>
          </a:p>
          <a:p>
            <a:r>
              <a:rPr lang="en-US" altLang="zh-CN" sz="2400" dirty="0">
                <a:solidFill>
                  <a:srgbClr val="804000"/>
                </a:solidFill>
                <a:highlight>
                  <a:srgbClr val="FFFFFF"/>
                </a:highlight>
              </a:rPr>
              <a:t>#include &lt;</a:t>
            </a:r>
            <a:r>
              <a:rPr lang="en-US" altLang="zh-CN" sz="2400" dirty="0" err="1">
                <a:solidFill>
                  <a:srgbClr val="804000"/>
                </a:solidFill>
                <a:highlight>
                  <a:srgbClr val="FFFFFF"/>
                </a:highlight>
              </a:rPr>
              <a:t>system.h</a:t>
            </a:r>
            <a:r>
              <a:rPr lang="en-US" altLang="zh-CN" sz="2400" dirty="0">
                <a:solidFill>
                  <a:srgbClr val="804000"/>
                </a:solidFill>
                <a:highlight>
                  <a:srgbClr val="FFFFFF"/>
                </a:highlight>
              </a:rPr>
              <a:t>&gt;</a:t>
            </a:r>
          </a:p>
          <a:p>
            <a:r>
              <a:rPr lang="en-US" altLang="zh-CN" sz="2400" dirty="0">
                <a:solidFill>
                  <a:srgbClr val="804000"/>
                </a:solidFill>
                <a:highlight>
                  <a:srgbClr val="FFFFFF"/>
                </a:highlight>
              </a:rPr>
              <a:t>#include &lt;</a:t>
            </a:r>
            <a:r>
              <a:rPr lang="en-US" altLang="zh-CN" sz="2400" dirty="0" err="1">
                <a:solidFill>
                  <a:srgbClr val="804000"/>
                </a:solidFill>
                <a:highlight>
                  <a:srgbClr val="FFFFFF"/>
                </a:highlight>
              </a:rPr>
              <a:t>time.h</a:t>
            </a:r>
            <a:r>
              <a:rPr lang="en-US" altLang="zh-CN" sz="2400" dirty="0">
                <a:solidFill>
                  <a:srgbClr val="804000"/>
                </a:solidFill>
                <a:highlight>
                  <a:srgbClr val="FFFFFF"/>
                </a:highlight>
              </a:rPr>
              <a:t>&gt;</a:t>
            </a:r>
          </a:p>
          <a:p>
            <a:r>
              <a:rPr lang="en-US" altLang="zh-CN" sz="2400" dirty="0">
                <a:solidFill>
                  <a:srgbClr val="804000"/>
                </a:solidFill>
                <a:highlight>
                  <a:srgbClr val="FFFFFF"/>
                </a:highlight>
              </a:rPr>
              <a:t>#include &lt;sys/</a:t>
            </a:r>
            <a:r>
              <a:rPr lang="en-US" altLang="zh-CN" sz="2400" dirty="0" err="1">
                <a:solidFill>
                  <a:srgbClr val="804000"/>
                </a:solidFill>
                <a:highlight>
                  <a:srgbClr val="FFFFFF"/>
                </a:highlight>
              </a:rPr>
              <a:t>time.h</a:t>
            </a:r>
            <a:r>
              <a:rPr lang="en-US" altLang="zh-CN" sz="2400" dirty="0">
                <a:solidFill>
                  <a:srgbClr val="804000"/>
                </a:solidFill>
                <a:highlight>
                  <a:srgbClr val="FFFFFF"/>
                </a:highlight>
              </a:rPr>
              <a:t>&gt;</a:t>
            </a:r>
          </a:p>
          <a:p>
            <a:r>
              <a:rPr lang="en-US" altLang="zh-CN" sz="2400" dirty="0">
                <a:solidFill>
                  <a:srgbClr val="804000"/>
                </a:solidFill>
                <a:highlight>
                  <a:srgbClr val="FFFFFF"/>
                </a:highlight>
              </a:rPr>
              <a:t>#include &lt;</a:t>
            </a:r>
            <a:r>
              <a:rPr lang="en-US" altLang="zh-CN" sz="2400" dirty="0" err="1">
                <a:solidFill>
                  <a:srgbClr val="804000"/>
                </a:solidFill>
                <a:highlight>
                  <a:srgbClr val="FFFFFF"/>
                </a:highlight>
              </a:rPr>
              <a:t>unistd.h</a:t>
            </a:r>
            <a:r>
              <a:rPr lang="en-US" altLang="zh-CN" sz="2400" dirty="0">
                <a:solidFill>
                  <a:srgbClr val="804000"/>
                </a:solidFill>
                <a:highlight>
                  <a:srgbClr val="FFFFFF"/>
                </a:highlight>
              </a:rPr>
              <a:t>&gt;</a:t>
            </a:r>
          </a:p>
          <a:p>
            <a:r>
              <a:rPr lang="it-IT" altLang="zh-CN" sz="2400" dirty="0">
                <a:solidFill>
                  <a:srgbClr val="804000"/>
                </a:solidFill>
                <a:highlight>
                  <a:srgbClr val="FFFFFF"/>
                </a:highlight>
              </a:rPr>
              <a:t>#include "altera_avalon_pio_regs.h"</a:t>
            </a:r>
          </a:p>
          <a:p>
            <a:r>
              <a:rPr lang="it-IT" altLang="zh-CN" sz="2400" dirty="0">
                <a:solidFill>
                  <a:srgbClr val="804000"/>
                </a:solidFill>
                <a:highlight>
                  <a:srgbClr val="FFFFFF"/>
                </a:highlight>
              </a:rPr>
              <a:t>#include "altera_avalon_sysid_qsys_regs.h"</a:t>
            </a:r>
          </a:p>
          <a:p>
            <a:r>
              <a:rPr lang="en-US" altLang="zh-CN" sz="2400" dirty="0">
                <a:solidFill>
                  <a:srgbClr val="804000"/>
                </a:solidFill>
                <a:highlight>
                  <a:srgbClr val="FFFFFF"/>
                </a:highlight>
              </a:rPr>
              <a:t>#define BUFFER_SIZE 128</a:t>
            </a:r>
          </a:p>
          <a:p>
            <a:endParaRPr lang="zh-CN" altLang="en-US" sz="24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40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</a:rPr>
              <a:t>uart_send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const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char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*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message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US" altLang="zh-CN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en-US" altLang="zh-CN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printf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"%s\n"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message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US" altLang="zh-CN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zh-CN" altLang="en-U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98482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14169" y="366623"/>
            <a:ext cx="8515662" cy="6370975"/>
          </a:xfrm>
          <a:prstGeom prst="rect">
            <a:avLst/>
          </a:prstGeom>
          <a:ln>
            <a:solidFill>
              <a:schemeClr val="accent1">
                <a:lumMod val="10000"/>
              </a:schemeClr>
            </a:solidFill>
          </a:ln>
        </p:spPr>
        <p:txBody>
          <a:bodyPr wrap="square">
            <a:spAutoFit/>
          </a:bodyPr>
          <a:lstStyle/>
          <a:p>
            <a:endParaRPr lang="zh-CN" altLang="en-U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process_at_command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const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char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*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command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US" altLang="zh-CN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if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strncmp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command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"AT+"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0" dirty="0">
                <a:solidFill>
                  <a:srgbClr val="FF8000"/>
                </a:solidFill>
                <a:highlight>
                  <a:srgbClr val="FFFFFF"/>
                </a:highlight>
              </a:rPr>
              <a:t>3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==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0" dirty="0">
                <a:solidFill>
                  <a:srgbClr val="FF8000"/>
                </a:solidFill>
                <a:highlight>
                  <a:srgbClr val="FFFFFF"/>
                </a:highlight>
              </a:rPr>
              <a:t>0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US" altLang="zh-CN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altLang="zh-CN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if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strcmp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command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"AT+\n"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==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0" dirty="0">
                <a:solidFill>
                  <a:srgbClr val="FF8000"/>
                </a:solidFill>
                <a:highlight>
                  <a:srgbClr val="FFFFFF"/>
                </a:highlight>
              </a:rPr>
              <a:t>0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US" altLang="zh-CN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    </a:t>
            </a:r>
            <a:r>
              <a:rPr lang="en-US" altLang="zh-CN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uart_send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"TEST OK</a:t>
            </a:r>
            <a:r>
              <a:rPr lang="zh-CN" altLang="en-US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！</a:t>
            </a:r>
            <a:r>
              <a:rPr lang="en-US" altLang="zh-CN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"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US" altLang="zh-CN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else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if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strcmp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command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"AT+NAME\n"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==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0" dirty="0">
                <a:solidFill>
                  <a:srgbClr val="FF8000"/>
                </a:solidFill>
                <a:highlight>
                  <a:srgbClr val="FFFFFF"/>
                </a:highlight>
              </a:rPr>
              <a:t>0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US" altLang="zh-CN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    </a:t>
            </a:r>
            <a:r>
              <a:rPr lang="en-US" altLang="zh-CN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uart_send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"</a:t>
            </a:r>
            <a:r>
              <a:rPr lang="zh-CN" altLang="en-US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学号：</a:t>
            </a:r>
            <a:r>
              <a:rPr lang="en-US" altLang="zh-CN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22111403888 </a:t>
            </a:r>
            <a:r>
              <a:rPr lang="zh-CN" altLang="en-US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姓名：张三</a:t>
            </a:r>
            <a:r>
              <a:rPr lang="en-US" altLang="zh-CN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"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zh-CN" altLang="en-U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else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if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strcmp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command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"AT+LEDON\n"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==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0" dirty="0">
                <a:solidFill>
                  <a:srgbClr val="FF8000"/>
                </a:solidFill>
                <a:highlight>
                  <a:srgbClr val="FFFFFF"/>
                </a:highlight>
              </a:rPr>
              <a:t>0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US" altLang="zh-CN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     </a:t>
            </a:r>
            <a:r>
              <a:rPr lang="en-US" altLang="zh-CN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//</a:t>
            </a:r>
            <a:r>
              <a:rPr lang="zh-CN" altLang="en-US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点亮</a:t>
            </a:r>
            <a:r>
              <a:rPr lang="en-US" altLang="zh-CN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LED</a:t>
            </a:r>
            <a:r>
              <a:rPr lang="zh-CN" altLang="en-US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灯</a:t>
            </a:r>
            <a:endParaRPr lang="en-US" altLang="zh-CN" sz="2400" b="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r>
              <a:rPr lang="en-US" altLang="zh-CN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              ………</a:t>
            </a:r>
            <a:endParaRPr lang="zh-CN" altLang="en-US" sz="2400" b="0" dirty="0">
              <a:solidFill>
                <a:srgbClr val="008000"/>
              </a:solidFill>
              <a:highlight>
                <a:srgbClr val="FFFFFF"/>
              </a:highlight>
            </a:endParaRPr>
          </a:p>
          <a:p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else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US" altLang="zh-CN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    </a:t>
            </a:r>
            <a:r>
              <a:rPr lang="en-US" altLang="zh-CN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uart_send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"AT</a:t>
            </a:r>
            <a:r>
              <a:rPr lang="zh-CN" altLang="en-US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指令不能识别</a:t>
            </a:r>
            <a:r>
              <a:rPr lang="en-US" altLang="zh-CN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"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zh-CN" altLang="en-U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zh-CN" altLang="en-U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else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US" altLang="zh-CN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altLang="zh-CN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uart_send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"</a:t>
            </a:r>
            <a:r>
              <a:rPr lang="zh-CN" altLang="en-US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非法指令</a:t>
            </a:r>
            <a:r>
              <a:rPr lang="en-US" altLang="zh-CN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"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zh-CN" altLang="en-U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zh-CN" altLang="en-U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72789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14169" y="366623"/>
            <a:ext cx="8515662" cy="4524315"/>
          </a:xfrm>
          <a:prstGeom prst="rect">
            <a:avLst/>
          </a:prstGeom>
          <a:ln>
            <a:solidFill>
              <a:schemeClr val="accent1">
                <a:lumMod val="1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endParaRPr lang="zh-CN" altLang="en-U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main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US" altLang="zh-CN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en-US" altLang="zh-CN" sz="2400" b="0" dirty="0">
                <a:solidFill>
                  <a:srgbClr val="8000FF"/>
                </a:solidFill>
                <a:highlight>
                  <a:srgbClr val="FFFFFF"/>
                </a:highlight>
              </a:rPr>
              <a:t>char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buffer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[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BUFFER_SIZE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];</a:t>
            </a:r>
            <a:endParaRPr lang="en-US" altLang="zh-CN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en-US" altLang="zh-CN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uart_send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"</a:t>
            </a:r>
            <a:r>
              <a:rPr lang="zh-CN" altLang="en-US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请输入</a:t>
            </a:r>
            <a:r>
              <a:rPr lang="en-US" altLang="zh-CN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AT</a:t>
            </a:r>
            <a:r>
              <a:rPr lang="zh-CN" altLang="en-US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指令</a:t>
            </a:r>
            <a:r>
              <a:rPr lang="en-US" altLang="zh-CN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,</a:t>
            </a:r>
            <a:r>
              <a:rPr lang="zh-CN" altLang="en-US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以换行符</a:t>
            </a:r>
            <a:r>
              <a:rPr lang="en-US" altLang="zh-CN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\\n</a:t>
            </a:r>
            <a:r>
              <a:rPr lang="zh-CN" altLang="en-US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结束</a:t>
            </a:r>
            <a:r>
              <a:rPr lang="en-US" altLang="zh-CN" sz="2400" b="0" dirty="0">
                <a:solidFill>
                  <a:srgbClr val="808080"/>
                </a:solidFill>
                <a:highlight>
                  <a:srgbClr val="FFFFFF"/>
                </a:highlight>
              </a:rPr>
              <a:t>! \n"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US" altLang="zh-CN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while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2400" b="0" dirty="0">
                <a:solidFill>
                  <a:srgbClr val="FF8000"/>
                </a:solidFill>
                <a:highlight>
                  <a:srgbClr val="FFFFFF"/>
                </a:highlight>
              </a:rPr>
              <a:t>1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en-US" altLang="zh-CN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		</a:t>
            </a:r>
            <a:r>
              <a:rPr lang="en-US" altLang="zh-CN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从串口接收</a:t>
            </a:r>
            <a:r>
              <a:rPr lang="en-US" altLang="zh-CN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AT</a:t>
            </a:r>
            <a:r>
              <a:rPr lang="zh-CN" altLang="en-US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指令</a:t>
            </a:r>
          </a:p>
          <a:p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		</a:t>
            </a:r>
            <a:r>
              <a:rPr lang="en-US" altLang="zh-CN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fgets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buffer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BUFFER_SIZE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stdin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US" altLang="zh-CN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		</a:t>
            </a:r>
            <a:r>
              <a:rPr lang="en-US" altLang="zh-CN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// </a:t>
            </a:r>
            <a:r>
              <a:rPr lang="zh-CN" altLang="en-US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处理收到的</a:t>
            </a:r>
            <a:r>
              <a:rPr lang="en-US" altLang="zh-CN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AT</a:t>
            </a:r>
            <a:r>
              <a:rPr lang="zh-CN" altLang="en-US" sz="2400" b="0" dirty="0">
                <a:solidFill>
                  <a:srgbClr val="008000"/>
                </a:solidFill>
                <a:highlight>
                  <a:srgbClr val="FFFFFF"/>
                </a:highlight>
              </a:rPr>
              <a:t>指令</a:t>
            </a:r>
          </a:p>
          <a:p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		</a:t>
            </a:r>
            <a:r>
              <a:rPr lang="en-US" altLang="zh-CN" sz="24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process_at_command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buffer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en-US" altLang="zh-CN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zh-CN" altLang="en-US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zh-CN" altLang="en-US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en-US" altLang="zh-CN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400" b="0" dirty="0">
                <a:solidFill>
                  <a:srgbClr val="FF8000"/>
                </a:solidFill>
                <a:highlight>
                  <a:srgbClr val="FFFFFF"/>
                </a:highlight>
              </a:rPr>
              <a:t>0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US" altLang="zh-CN" sz="24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26239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39762B5-E240-9A42-5335-DFC5C152D406}"/>
              </a:ext>
            </a:extLst>
          </p:cNvPr>
          <p:cNvSpPr txBox="1"/>
          <p:nvPr/>
        </p:nvSpPr>
        <p:spPr>
          <a:xfrm>
            <a:off x="1219200" y="152400"/>
            <a:ext cx="4572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800" dirty="0">
              <a:solidFill>
                <a:srgbClr val="6D6D6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800" dirty="0">
                <a:solidFill>
                  <a:srgbClr val="6D6D6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[2025-05-19 00:27:27.035]# SEND ASCII&gt;</a:t>
            </a:r>
            <a:endParaRPr lang="zh-CN" altLang="en-US" sz="1800" dirty="0">
              <a:solidFill>
                <a:srgbClr val="6D6D6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AT+TIMESTAMP</a:t>
            </a:r>
            <a:endParaRPr lang="zh-CN" altLang="en-US" sz="180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1800" dirty="0">
              <a:solidFill>
                <a:srgbClr val="6D6D6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800" dirty="0">
                <a:solidFill>
                  <a:srgbClr val="6D6D6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[2025-05-19 00:27:27.055]# RECV ASCII&gt;</a:t>
            </a:r>
            <a:endParaRPr lang="zh-CN" altLang="en-US" sz="1800" dirty="0">
              <a:solidFill>
                <a:srgbClr val="6D6D6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硬件时间戳</a:t>
            </a:r>
            <a:r>
              <a:rPr lang="en-US" altLang="zh-CN" sz="180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 1716293977 </a:t>
            </a:r>
            <a:endParaRPr lang="zh-CN" altLang="en-US" sz="1800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80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2025-05-18 12:19:37</a:t>
            </a:r>
            <a:endParaRPr lang="zh-CN" altLang="en-US" sz="1800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1800" dirty="0">
              <a:solidFill>
                <a:srgbClr val="6D6D6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800" dirty="0">
                <a:solidFill>
                  <a:srgbClr val="6D6D6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[2025-05-19 00:27:33.604]# SEND ASCII&gt;</a:t>
            </a:r>
            <a:endParaRPr lang="zh-CN" altLang="en-US" sz="1800" dirty="0">
              <a:solidFill>
                <a:srgbClr val="6D6D6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AT+NAME</a:t>
            </a:r>
            <a:endParaRPr lang="zh-CN" altLang="en-US" sz="180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1800" dirty="0">
              <a:solidFill>
                <a:srgbClr val="6D6D6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800" dirty="0">
                <a:solidFill>
                  <a:srgbClr val="6D6D6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[2025-05-19 00:27:33.644]# RECV ASCII&gt;</a:t>
            </a:r>
            <a:endParaRPr lang="zh-CN" altLang="en-US" sz="1800" dirty="0">
              <a:solidFill>
                <a:srgbClr val="6D6D6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学号：</a:t>
            </a:r>
            <a:r>
              <a:rPr lang="en-US" altLang="zh-CN" sz="180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22111403888 </a:t>
            </a:r>
            <a:r>
              <a:rPr lang="zh-CN" altLang="en-US" sz="180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姓名：张三</a:t>
            </a:r>
          </a:p>
          <a:p>
            <a:endParaRPr lang="zh-CN" altLang="en-US" sz="1800" dirty="0">
              <a:solidFill>
                <a:srgbClr val="6D6D6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800" dirty="0">
                <a:solidFill>
                  <a:srgbClr val="6D6D6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[2025-05-19 00:27:43.313]# SEND ASCII&gt;</a:t>
            </a:r>
            <a:endParaRPr lang="zh-CN" altLang="en-US" sz="1800" dirty="0">
              <a:solidFill>
                <a:srgbClr val="6D6D6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AT+RST</a:t>
            </a:r>
            <a:endParaRPr lang="zh-CN" altLang="en-US" sz="180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1800" dirty="0">
              <a:solidFill>
                <a:srgbClr val="6D6D6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800" dirty="0">
                <a:solidFill>
                  <a:srgbClr val="6D6D6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[2025-05-19 00:27:43.343]# RECV ASCII&gt;</a:t>
            </a:r>
            <a:endParaRPr lang="zh-CN" altLang="en-US" sz="1800" dirty="0">
              <a:solidFill>
                <a:srgbClr val="6D6D6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系统正在重启中。。。</a:t>
            </a:r>
          </a:p>
          <a:p>
            <a:endParaRPr lang="zh-CN" altLang="en-US" sz="1800" dirty="0">
              <a:solidFill>
                <a:srgbClr val="6D6D6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800" dirty="0">
                <a:solidFill>
                  <a:srgbClr val="6D6D6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[2025-05-19 00:27:44.332]# RECV ASCII&gt;</a:t>
            </a:r>
            <a:endParaRPr lang="zh-CN" altLang="en-US" sz="1800" dirty="0">
              <a:solidFill>
                <a:srgbClr val="6D6D6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请输入</a:t>
            </a:r>
            <a:r>
              <a:rPr lang="en-US" altLang="zh-CN" sz="180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AT</a:t>
            </a:r>
            <a:r>
              <a:rPr lang="zh-CN" altLang="en-US" sz="180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指令</a:t>
            </a:r>
            <a:r>
              <a:rPr lang="en-US" altLang="zh-CN" sz="180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80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以换行符</a:t>
            </a:r>
            <a:r>
              <a:rPr lang="en-US" altLang="zh-CN" sz="180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\n</a:t>
            </a:r>
            <a:r>
              <a:rPr lang="zh-CN" altLang="en-US" sz="180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结束</a:t>
            </a:r>
            <a:r>
              <a:rPr lang="en-US" altLang="zh-CN" sz="1800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!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7295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2881</TotalTime>
  <Words>946</Words>
  <Application>Microsoft Office PowerPoint</Application>
  <PresentationFormat>全屏显示(4:3)</PresentationFormat>
  <Paragraphs>128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等线 Light</vt:lpstr>
      <vt:lpstr>宋体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wzh02</dc:creator>
  <cp:lastModifiedBy>zhaohui wu</cp:lastModifiedBy>
  <cp:revision>138</cp:revision>
  <cp:lastPrinted>1601-01-01T00:00:00Z</cp:lastPrinted>
  <dcterms:created xsi:type="dcterms:W3CDTF">1601-01-01T00:00:00Z</dcterms:created>
  <dcterms:modified xsi:type="dcterms:W3CDTF">2025-05-19T15:33:49Z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